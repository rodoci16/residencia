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6"/>
  </p:notesMasterIdLst>
  <p:sldIdLst>
    <p:sldId id="257" r:id="rId2"/>
    <p:sldId id="263" r:id="rId3"/>
    <p:sldId id="264" r:id="rId4"/>
    <p:sldId id="294" r:id="rId5"/>
    <p:sldId id="293" r:id="rId6"/>
    <p:sldId id="287" r:id="rId7"/>
    <p:sldId id="286" r:id="rId8"/>
    <p:sldId id="268" r:id="rId9"/>
    <p:sldId id="290" r:id="rId10"/>
    <p:sldId id="289" r:id="rId11"/>
    <p:sldId id="292" r:id="rId12"/>
    <p:sldId id="273" r:id="rId13"/>
    <p:sldId id="291" r:id="rId14"/>
    <p:sldId id="288" r:id="rId1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00"/>
    <a:srgbClr val="336600"/>
    <a:srgbClr val="0033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EA10C7-DC97-E56B-3877-3CCCA46943C4}" v="31" dt="2026-09-29T23:38:03.58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5033" autoAdjust="0"/>
  </p:normalViewPr>
  <p:slideViewPr>
    <p:cSldViewPr>
      <p:cViewPr varScale="1">
        <p:scale>
          <a:sx n="159" d="100"/>
          <a:sy n="159" d="100"/>
        </p:scale>
        <p:origin x="192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274381-B792-4696-991D-57075DD6932F}" type="datetimeFigureOut">
              <a:rPr lang="es-ES" smtClean="0"/>
              <a:pPr/>
              <a:t>11/10/2026</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AD63ED-674D-4CE9-8109-5B0BAA857EE4}" type="slidenum">
              <a:rPr lang="es-ES" smtClean="0"/>
              <a:pPr/>
              <a:t>‹Nº›</a:t>
            </a:fld>
            <a:endParaRPr lang="es-ES" dirty="0"/>
          </a:p>
        </p:txBody>
      </p:sp>
    </p:spTree>
    <p:extLst>
      <p:ext uri="{BB962C8B-B14F-4D97-AF65-F5344CB8AC3E}">
        <p14:creationId xmlns:p14="http://schemas.microsoft.com/office/powerpoint/2010/main" val="2812995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6A10C59E-2833-4080-BB59-5107E793FAE4}"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112CA3-780B-4961-B1B4-8EEEB9099B52}" type="datetimeFigureOut">
              <a:rPr lang="es-ES" smtClean="0"/>
              <a:pPr/>
              <a:t>11/10/2026</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0C59E-2833-4080-BB59-5107E793FAE4}"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datacamp.com/es/tutorial/sqlalchemy-tutorial-examples"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cmhac.com/directory/hospital-mazahua/" TargetMode="External"/><Relationship Id="rId4" Type="http://schemas.openxmlformats.org/officeDocument/2006/relationships/hyperlink" Target="https://cofasorg.wordpress.com/hospitales/hospital-mazahua-2/"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pic>
        <p:nvPicPr>
          <p:cNvPr id="7" name="Imagen 1" descr="LogoColor"/>
          <p:cNvPicPr>
            <a:picLocks noChangeAspect="1" noChangeArrowheads="1"/>
          </p:cNvPicPr>
          <p:nvPr/>
        </p:nvPicPr>
        <p:blipFill>
          <a:blip r:embed="rId3" cstate="print"/>
          <a:srcRect/>
          <a:stretch>
            <a:fillRect/>
          </a:stretch>
        </p:blipFill>
        <p:spPr bwMode="auto">
          <a:xfrm>
            <a:off x="571472" y="285728"/>
            <a:ext cx="1193801" cy="568325"/>
          </a:xfrm>
          <a:prstGeom prst="rect">
            <a:avLst/>
          </a:prstGeom>
          <a:noFill/>
        </p:spPr>
      </p:pic>
      <p:pic>
        <p:nvPicPr>
          <p:cNvPr id="8" name="Picture 2" descr="sanjose"/>
          <p:cNvPicPr>
            <a:picLocks noChangeAspect="1" noChangeArrowheads="1"/>
          </p:cNvPicPr>
          <p:nvPr/>
        </p:nvPicPr>
        <p:blipFill>
          <a:blip r:embed="rId4" cstate="print"/>
          <a:srcRect/>
          <a:stretch>
            <a:fillRect/>
          </a:stretch>
        </p:blipFill>
        <p:spPr bwMode="auto">
          <a:xfrm>
            <a:off x="7356504" y="214290"/>
            <a:ext cx="1430338" cy="560388"/>
          </a:xfrm>
          <a:prstGeom prst="rect">
            <a:avLst/>
          </a:prstGeom>
          <a:noFill/>
        </p:spPr>
      </p:pic>
      <p:sp>
        <p:nvSpPr>
          <p:cNvPr id="14" name="13 CuadroTexto"/>
          <p:cNvSpPr txBox="1"/>
          <p:nvPr/>
        </p:nvSpPr>
        <p:spPr>
          <a:xfrm>
            <a:off x="6300192" y="6100724"/>
            <a:ext cx="2629526" cy="400110"/>
          </a:xfrm>
          <a:prstGeom prst="rect">
            <a:avLst/>
          </a:prstGeom>
          <a:noFill/>
        </p:spPr>
        <p:txBody>
          <a:bodyPr wrap="square" lIns="91440" tIns="45720" rIns="91440" bIns="45720" rtlCol="0" anchor="t">
            <a:spAutoFit/>
          </a:bodyPr>
          <a:lstStyle/>
          <a:p>
            <a:pPr algn="r"/>
            <a:r>
              <a:rPr lang="es-ES" sz="2000" dirty="0"/>
              <a:t>Octubre de 2026</a:t>
            </a:r>
          </a:p>
        </p:txBody>
      </p:sp>
      <p:sp>
        <p:nvSpPr>
          <p:cNvPr id="4" name="CuadroTexto 3"/>
          <p:cNvSpPr txBox="1"/>
          <p:nvPr/>
        </p:nvSpPr>
        <p:spPr>
          <a:xfrm>
            <a:off x="323528" y="1576409"/>
            <a:ext cx="8606189" cy="4955203"/>
          </a:xfrm>
          <a:prstGeom prst="rect">
            <a:avLst/>
          </a:prstGeom>
          <a:noFill/>
        </p:spPr>
        <p:txBody>
          <a:bodyPr wrap="square" rtlCol="0">
            <a:spAutoFit/>
          </a:bodyPr>
          <a:lstStyle/>
          <a:p>
            <a:pPr algn="ctr"/>
            <a:r>
              <a:rPr lang="es-MX" sz="2200" b="1" dirty="0"/>
              <a:t>Carrera: </a:t>
            </a:r>
          </a:p>
          <a:p>
            <a:pPr algn="ctr"/>
            <a:r>
              <a:rPr lang="es-MX" sz="2200" dirty="0"/>
              <a:t>Ingeniería en Sistemas Computacionales </a:t>
            </a:r>
          </a:p>
          <a:p>
            <a:pPr algn="ctr"/>
            <a:endParaRPr lang="es-MX" sz="2200" dirty="0"/>
          </a:p>
          <a:p>
            <a:pPr algn="ctr"/>
            <a:r>
              <a:rPr lang="es-MX" sz="2200" b="1" dirty="0"/>
              <a:t>“Plataforma Integral para la Gestión de Medicamentos y Generación de Citas del Centro de Orientación Familiar y Salud, I. A. P.  (Hospital Mazahua)”</a:t>
            </a:r>
          </a:p>
          <a:p>
            <a:pPr algn="ctr"/>
            <a:endParaRPr lang="es-MX" sz="2200" b="1" dirty="0"/>
          </a:p>
          <a:p>
            <a:pPr algn="ctr"/>
            <a:r>
              <a:rPr lang="es-MX" sz="2200" b="1" dirty="0"/>
              <a:t>Presenta: </a:t>
            </a:r>
          </a:p>
          <a:p>
            <a:pPr algn="ctr"/>
            <a:r>
              <a:rPr lang="es-MX" sz="2200" dirty="0"/>
              <a:t>Rodolfo Cruz Ibarra</a:t>
            </a:r>
          </a:p>
          <a:p>
            <a:pPr algn="ctr"/>
            <a:endParaRPr lang="es-MX" sz="1900" dirty="0"/>
          </a:p>
          <a:p>
            <a:pPr algn="ctr"/>
            <a:r>
              <a:rPr lang="es-MX" sz="2200" b="1" dirty="0"/>
              <a:t>Asesor Interno: </a:t>
            </a:r>
          </a:p>
          <a:p>
            <a:pPr algn="ctr"/>
            <a:r>
              <a:rPr lang="es-MX" sz="2000" dirty="0"/>
              <a:t>I.S.C Andrea </a:t>
            </a:r>
            <a:r>
              <a:rPr lang="es-MX" sz="2000" dirty="0" err="1"/>
              <a:t>Vazquez</a:t>
            </a:r>
            <a:r>
              <a:rPr lang="es-MX" sz="2000" dirty="0"/>
              <a:t> Tellez </a:t>
            </a:r>
          </a:p>
          <a:p>
            <a:pPr algn="ctr"/>
            <a:endParaRPr lang="es-MX" sz="1900" dirty="0"/>
          </a:p>
          <a:p>
            <a:pPr algn="ctr"/>
            <a:endParaRPr lang="es-MX" sz="1900" dirty="0"/>
          </a:p>
          <a:p>
            <a:pPr algn="ctr"/>
            <a:endParaRPr lang="es-MX" sz="1900" dirty="0"/>
          </a:p>
        </p:txBody>
      </p:sp>
      <p:sp>
        <p:nvSpPr>
          <p:cNvPr id="2" name="CuadroTexto 1"/>
          <p:cNvSpPr txBox="1"/>
          <p:nvPr/>
        </p:nvSpPr>
        <p:spPr>
          <a:xfrm>
            <a:off x="1043608" y="764704"/>
            <a:ext cx="6714569" cy="707886"/>
          </a:xfrm>
          <a:prstGeom prst="rect">
            <a:avLst/>
          </a:prstGeom>
          <a:noFill/>
        </p:spPr>
        <p:txBody>
          <a:bodyPr wrap="square" rtlCol="0">
            <a:spAutoFit/>
          </a:bodyPr>
          <a:lstStyle/>
          <a:p>
            <a:pPr algn="ctr"/>
            <a:r>
              <a:rPr lang="es-MX" sz="2000" b="1" dirty="0"/>
              <a:t>UNIVERSIDAD MEXIQUENSE DEL BICENTENARIO</a:t>
            </a:r>
          </a:p>
          <a:p>
            <a:pPr algn="ctr"/>
            <a:r>
              <a:rPr lang="es-MX" sz="2000" b="1" dirty="0"/>
              <a:t>UNIDAD DE ESTUDIOS SUPERIORES SAN JOSÉ DEL RINCÓN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313640"/>
            <a:ext cx="9144000" cy="2571744"/>
          </a:xfrm>
          <a:prstGeom prst="rect">
            <a:avLst/>
          </a:prstGeom>
          <a:noFill/>
          <a:ln w="9525">
            <a:noFill/>
            <a:miter lim="800000"/>
            <a:headEnd/>
            <a:tailEnd/>
          </a:ln>
        </p:spPr>
      </p:pic>
      <p:sp>
        <p:nvSpPr>
          <p:cNvPr id="9" name="8 Rectángulo"/>
          <p:cNvSpPr/>
          <p:nvPr/>
        </p:nvSpPr>
        <p:spPr>
          <a:xfrm>
            <a:off x="6918564" y="13648"/>
            <a:ext cx="2218684"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Agenda</a:t>
            </a:r>
            <a:r>
              <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 </a:t>
            </a:r>
          </a:p>
        </p:txBody>
      </p:sp>
      <p:sp>
        <p:nvSpPr>
          <p:cNvPr id="7" name="Rectángulo 6"/>
          <p:cNvSpPr/>
          <p:nvPr/>
        </p:nvSpPr>
        <p:spPr>
          <a:xfrm>
            <a:off x="1836928" y="984954"/>
            <a:ext cx="6624737" cy="4524315"/>
          </a:xfrm>
          <a:prstGeom prst="rect">
            <a:avLst/>
          </a:prstGeom>
        </p:spPr>
        <p:txBody>
          <a:bodyPr wrap="square">
            <a:spAutoFit/>
          </a:bodyPr>
          <a:lstStyle/>
          <a:p>
            <a:pPr marL="457200" indent="-457200">
              <a:buFont typeface="+mj-lt"/>
              <a:buAutoNum type="arabicPeriod"/>
            </a:pPr>
            <a:r>
              <a:rPr lang="es-MX" sz="2400" dirty="0"/>
              <a:t>Institución</a:t>
            </a:r>
          </a:p>
          <a:p>
            <a:pPr marL="457200" indent="-457200">
              <a:buFont typeface="+mj-lt"/>
              <a:buAutoNum type="arabicPeriod"/>
            </a:pPr>
            <a:r>
              <a:rPr lang="es-MX" sz="2400" dirty="0"/>
              <a:t>Introducción</a:t>
            </a:r>
          </a:p>
          <a:p>
            <a:pPr marL="457200" indent="-457200">
              <a:buFont typeface="+mj-lt"/>
              <a:buAutoNum type="arabicPeriod"/>
            </a:pPr>
            <a:r>
              <a:rPr lang="es-MX" sz="2400" dirty="0"/>
              <a:t>Planteamiento del problema</a:t>
            </a:r>
          </a:p>
          <a:p>
            <a:pPr marL="457200" indent="-457200">
              <a:buFont typeface="+mj-lt"/>
              <a:buAutoNum type="arabicPeriod"/>
            </a:pPr>
            <a:r>
              <a:rPr lang="es-MX" sz="2400" dirty="0"/>
              <a:t>Justificación </a:t>
            </a:r>
          </a:p>
          <a:p>
            <a:pPr marL="457200" indent="-457200">
              <a:buFont typeface="+mj-lt"/>
              <a:buAutoNum type="arabicPeriod"/>
            </a:pPr>
            <a:r>
              <a:rPr lang="es-MX" sz="2400" dirty="0"/>
              <a:t>Objetivos (General y específicos)</a:t>
            </a:r>
          </a:p>
          <a:p>
            <a:pPr marL="457200" indent="-457200">
              <a:buFont typeface="+mj-lt"/>
              <a:buAutoNum type="arabicPeriod"/>
            </a:pPr>
            <a:r>
              <a:rPr lang="es-MX" sz="2400" dirty="0"/>
              <a:t>Herramientas de desarrollo</a:t>
            </a:r>
          </a:p>
          <a:p>
            <a:pPr marL="457200" indent="-457200">
              <a:buFont typeface="+mj-lt"/>
              <a:buAutoNum type="arabicPeriod"/>
            </a:pPr>
            <a:r>
              <a:rPr lang="es-MX" sz="2400" dirty="0"/>
              <a:t>Avance (Documento y proyecto)</a:t>
            </a:r>
          </a:p>
          <a:p>
            <a:pPr marL="457200" indent="-457200">
              <a:buFont typeface="+mj-lt"/>
              <a:buAutoNum type="arabicPeriod"/>
            </a:pPr>
            <a:r>
              <a:rPr lang="es-MX" sz="2400" dirty="0"/>
              <a:t>Cronograma de actividades</a:t>
            </a:r>
          </a:p>
          <a:p>
            <a:pPr marL="457200" indent="-457200">
              <a:buFont typeface="+mj-lt"/>
              <a:buAutoNum type="arabicPeriod"/>
            </a:pPr>
            <a:r>
              <a:rPr lang="es-MX" sz="2400" dirty="0"/>
              <a:t>Conclusiones</a:t>
            </a:r>
          </a:p>
          <a:p>
            <a:pPr marL="457200" indent="-457200">
              <a:buFont typeface="+mj-lt"/>
              <a:buAutoNum type="arabicPeriod"/>
            </a:pPr>
            <a:r>
              <a:rPr lang="es-MX" sz="2400" dirty="0"/>
              <a:t> Bibliografía </a:t>
            </a:r>
          </a:p>
          <a:p>
            <a:pPr marL="457200" indent="-457200">
              <a:buFont typeface="+mj-lt"/>
              <a:buAutoNum type="arabicPeriod"/>
            </a:pPr>
            <a:r>
              <a:rPr lang="es-MX" sz="2400" dirty="0"/>
              <a:t> Preguntas </a:t>
            </a:r>
          </a:p>
          <a:p>
            <a:endParaRPr lang="es-MX" sz="2400" b="1" dirty="0"/>
          </a:p>
        </p:txBody>
      </p:sp>
      <p:sp>
        <p:nvSpPr>
          <p:cNvPr id="8"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2/14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2" name="Rectángulo 1"/>
          <p:cNvSpPr/>
          <p:nvPr/>
        </p:nvSpPr>
        <p:spPr>
          <a:xfrm>
            <a:off x="539552" y="1146935"/>
            <a:ext cx="4032448" cy="430887"/>
          </a:xfrm>
          <a:prstGeom prst="rect">
            <a:avLst/>
          </a:prstGeom>
        </p:spPr>
        <p:txBody>
          <a:bodyPr wrap="square">
            <a:spAutoFit/>
          </a:bodyPr>
          <a:lstStyle/>
          <a:p>
            <a:pPr marL="64770" marR="50165" algn="just">
              <a:lnSpc>
                <a:spcPct val="100000"/>
              </a:lnSpc>
              <a:spcAft>
                <a:spcPts val="0"/>
              </a:spcAft>
            </a:pPr>
            <a:endParaRPr lang="es-MX" sz="2200" dirty="0">
              <a:effectLst/>
              <a:ea typeface="Times New Roman" panose="02020603050405020304" pitchFamily="18" charset="0"/>
              <a:cs typeface="Times New Roman" panose="02020603050405020304" pitchFamily="18" charset="0"/>
            </a:endParaRPr>
          </a:p>
        </p:txBody>
      </p:sp>
      <p:sp>
        <p:nvSpPr>
          <p:cNvPr id="5" name="8 Rectángulo"/>
          <p:cNvSpPr/>
          <p:nvPr/>
        </p:nvSpPr>
        <p:spPr>
          <a:xfrm>
            <a:off x="5922511" y="25758"/>
            <a:ext cx="2965364"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Institución </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3/14</a:t>
            </a:r>
          </a:p>
        </p:txBody>
      </p:sp>
      <p:sp>
        <p:nvSpPr>
          <p:cNvPr id="3" name="CuadroTexto 2">
            <a:extLst>
              <a:ext uri="{FF2B5EF4-FFF2-40B4-BE49-F238E27FC236}">
                <a16:creationId xmlns:a16="http://schemas.microsoft.com/office/drawing/2014/main" id="{1CA1DF92-021D-04D8-1287-C8279D6326BD}"/>
              </a:ext>
            </a:extLst>
          </p:cNvPr>
          <p:cNvSpPr txBox="1"/>
          <p:nvPr/>
        </p:nvSpPr>
        <p:spPr>
          <a:xfrm>
            <a:off x="133255" y="1380388"/>
            <a:ext cx="4414037" cy="3893374"/>
          </a:xfrm>
          <a:prstGeom prst="rect">
            <a:avLst/>
          </a:prstGeom>
          <a:noFill/>
        </p:spPr>
        <p:txBody>
          <a:bodyPr wrap="square" rtlCol="0">
            <a:spAutoFit/>
          </a:bodyPr>
          <a:lstStyle/>
          <a:p>
            <a:r>
              <a:rPr lang="es-MX" sz="1900" b="1" dirty="0">
                <a:latin typeface="Arial" panose="020B0604020202020204" pitchFamily="34" charset="0"/>
                <a:cs typeface="Arial" panose="020B0604020202020204" pitchFamily="34" charset="0"/>
              </a:rPr>
              <a:t>Centros de Orientación Familiar y Salud, I. A. P.  (Hospital Mazahua)</a:t>
            </a:r>
            <a:endParaRPr lang="es-419" sz="1900" dirty="0">
              <a:latin typeface="Arial" panose="020B0604020202020204" pitchFamily="34" charset="0"/>
              <a:cs typeface="Arial" panose="020B0604020202020204" pitchFamily="34" charset="0"/>
            </a:endParaRPr>
          </a:p>
          <a:p>
            <a:r>
              <a:rPr lang="es-419" sz="1900" dirty="0">
                <a:latin typeface="Arial" panose="020B0604020202020204" pitchFamily="34" charset="0"/>
                <a:cs typeface="Arial" panose="020B0604020202020204" pitchFamily="34" charset="0"/>
              </a:rPr>
              <a:t>Centro de salud, que brinda la atención las 24 horas del día.</a:t>
            </a:r>
          </a:p>
          <a:p>
            <a:endParaRPr lang="es-419" sz="1900" dirty="0">
              <a:latin typeface="Arial" panose="020B0604020202020204" pitchFamily="34" charset="0"/>
              <a:cs typeface="Arial" panose="020B0604020202020204" pitchFamily="34" charset="0"/>
            </a:endParaRPr>
          </a:p>
          <a:p>
            <a:r>
              <a:rPr lang="es-419" sz="1900" dirty="0">
                <a:latin typeface="Arial" panose="020B0604020202020204" pitchFamily="34" charset="0"/>
                <a:cs typeface="Arial" panose="020B0604020202020204" pitchFamily="34" charset="0"/>
              </a:rPr>
              <a:t>Teléfono: </a:t>
            </a:r>
            <a:r>
              <a:rPr lang="es-MX" sz="1900" dirty="0">
                <a:latin typeface="Arial" panose="020B0604020202020204" pitchFamily="34" charset="0"/>
                <a:cs typeface="Arial" panose="020B0604020202020204" pitchFamily="34" charset="0"/>
              </a:rPr>
              <a:t>7122170068 </a:t>
            </a:r>
          </a:p>
          <a:p>
            <a:r>
              <a:rPr lang="es-MX" sz="1900" dirty="0">
                <a:latin typeface="Arial" panose="020B0604020202020204" pitchFamily="34" charset="0"/>
                <a:cs typeface="Arial" panose="020B0604020202020204" pitchFamily="34" charset="0"/>
              </a:rPr>
              <a:t>Dirección: </a:t>
            </a:r>
            <a:r>
              <a:rPr lang="es-ES" sz="1900" dirty="0">
                <a:latin typeface="Arial" panose="020B0604020202020204" pitchFamily="34" charset="0"/>
                <a:cs typeface="Arial" panose="020B0604020202020204" pitchFamily="34" charset="0"/>
              </a:rPr>
              <a:t>Santa Ana Nichi, C.P. 50686, San Felipe del Progreso, México.</a:t>
            </a:r>
            <a:endParaRPr lang="es-MX" sz="1900" dirty="0">
              <a:latin typeface="Arial" panose="020B0604020202020204" pitchFamily="34" charset="0"/>
              <a:cs typeface="Arial" panose="020B0604020202020204" pitchFamily="34" charset="0"/>
            </a:endParaRPr>
          </a:p>
          <a:p>
            <a:endParaRPr lang="es-419" sz="1900" dirty="0">
              <a:latin typeface="Arial" panose="020B0604020202020204" pitchFamily="34" charset="0"/>
              <a:cs typeface="Arial" panose="020B0604020202020204" pitchFamily="34" charset="0"/>
            </a:endParaRPr>
          </a:p>
          <a:p>
            <a:r>
              <a:rPr lang="es-419" sz="1900" dirty="0">
                <a:latin typeface="Arial" panose="020B0604020202020204" pitchFamily="34" charset="0"/>
                <a:cs typeface="Arial" panose="020B0604020202020204" pitchFamily="34" charset="0"/>
              </a:rPr>
              <a:t>Asesor externo: </a:t>
            </a:r>
            <a:r>
              <a:rPr lang="es-MX" sz="1900" dirty="0">
                <a:latin typeface="Arial" panose="020B0604020202020204" pitchFamily="34" charset="0"/>
                <a:cs typeface="Arial" panose="020B0604020202020204" pitchFamily="34" charset="0"/>
              </a:rPr>
              <a:t>Lic. Ángela Onofre Quintana directora del Hospital Mazahua</a:t>
            </a:r>
          </a:p>
        </p:txBody>
      </p:sp>
      <p:pic>
        <p:nvPicPr>
          <p:cNvPr id="9" name="Imagen 8">
            <a:extLst>
              <a:ext uri="{FF2B5EF4-FFF2-40B4-BE49-F238E27FC236}">
                <a16:creationId xmlns:a16="http://schemas.microsoft.com/office/drawing/2014/main" id="{72DDC576-017E-533E-C652-5AAA747AD8A6}"/>
              </a:ext>
            </a:extLst>
          </p:cNvPr>
          <p:cNvPicPr>
            <a:picLocks noChangeAspect="1"/>
          </p:cNvPicPr>
          <p:nvPr/>
        </p:nvPicPr>
        <p:blipFill>
          <a:blip r:embed="rId3"/>
          <a:srcRect l="15921" t="10636" r="7313"/>
          <a:stretch>
            <a:fillRect/>
          </a:stretch>
        </p:blipFill>
        <p:spPr>
          <a:xfrm>
            <a:off x="4657055" y="1489575"/>
            <a:ext cx="4234600" cy="3200740"/>
          </a:xfrm>
          <a:prstGeom prst="rect">
            <a:avLst/>
          </a:prstGeom>
        </p:spPr>
      </p:pic>
      <p:sp>
        <p:nvSpPr>
          <p:cNvPr id="11" name="Rectángulo 10">
            <a:extLst>
              <a:ext uri="{FF2B5EF4-FFF2-40B4-BE49-F238E27FC236}">
                <a16:creationId xmlns:a16="http://schemas.microsoft.com/office/drawing/2014/main" id="{67683E67-C2DB-F677-2166-79DC7AED36AA}"/>
              </a:ext>
            </a:extLst>
          </p:cNvPr>
          <p:cNvSpPr/>
          <p:nvPr/>
        </p:nvSpPr>
        <p:spPr>
          <a:xfrm>
            <a:off x="5233712" y="4690315"/>
            <a:ext cx="3081293" cy="276999"/>
          </a:xfrm>
          <a:prstGeom prst="rect">
            <a:avLst/>
          </a:prstGeom>
          <a:noFill/>
        </p:spPr>
        <p:txBody>
          <a:bodyPr wrap="none" lIns="91440" tIns="45720" rIns="91440" bIns="45720">
            <a:spAutoFit/>
          </a:bodyPr>
          <a:lstStyle/>
          <a:p>
            <a:pPr algn="ct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Figura 1 Mapa de la ubicación del Hospital</a:t>
            </a:r>
            <a:endParaRPr lang="es-ES" sz="12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id="{E6EDACAE-5B69-1C79-C08A-748DF1586A65}"/>
              </a:ext>
            </a:extLst>
          </p:cNvPr>
          <p:cNvSpPr/>
          <p:nvPr/>
        </p:nvSpPr>
        <p:spPr>
          <a:xfrm>
            <a:off x="5680946" y="4853449"/>
            <a:ext cx="2186817" cy="276999"/>
          </a:xfrm>
          <a:prstGeom prst="rect">
            <a:avLst/>
          </a:prstGeom>
          <a:noFill/>
        </p:spPr>
        <p:txBody>
          <a:bodyPr wrap="none" lIns="91440" tIns="45720" rIns="91440" bIns="45720">
            <a:spAutoFit/>
          </a:bodyPr>
          <a:lstStyle/>
          <a:p>
            <a:pPr algn="ct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Recuperado de Google </a:t>
            </a:r>
            <a:r>
              <a:rPr lang="es-ES" sz="1200"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Maps</a:t>
            </a:r>
            <a:endPar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3233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C5FD-E809-9A14-09A5-E1EE840094D1}"/>
            </a:ext>
          </a:extLst>
        </p:cNvPr>
        <p:cNvGrpSpPr/>
        <p:nvPr/>
      </p:nvGrpSpPr>
      <p:grpSpPr>
        <a:xfrm>
          <a:off x="0" y="0"/>
          <a:ext cx="0" cy="0"/>
          <a:chOff x="0" y="0"/>
          <a:chExt cx="0" cy="0"/>
        </a:xfrm>
      </p:grpSpPr>
      <p:pic>
        <p:nvPicPr>
          <p:cNvPr id="6" name="5 Imagen">
            <a:extLst>
              <a:ext uri="{FF2B5EF4-FFF2-40B4-BE49-F238E27FC236}">
                <a16:creationId xmlns:a16="http://schemas.microsoft.com/office/drawing/2014/main" id="{8392F70E-910D-CDA2-DA4C-D63BF5F6AB3F}"/>
              </a:ext>
            </a:extLst>
          </p:cNvPr>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2" name="Rectángulo 1">
            <a:extLst>
              <a:ext uri="{FF2B5EF4-FFF2-40B4-BE49-F238E27FC236}">
                <a16:creationId xmlns:a16="http://schemas.microsoft.com/office/drawing/2014/main" id="{3EE4D1C5-E415-1393-53C6-4C67A36514E1}"/>
              </a:ext>
            </a:extLst>
          </p:cNvPr>
          <p:cNvSpPr/>
          <p:nvPr/>
        </p:nvSpPr>
        <p:spPr>
          <a:xfrm>
            <a:off x="539552" y="1146935"/>
            <a:ext cx="4032448" cy="430887"/>
          </a:xfrm>
          <a:prstGeom prst="rect">
            <a:avLst/>
          </a:prstGeom>
        </p:spPr>
        <p:txBody>
          <a:bodyPr wrap="square">
            <a:spAutoFit/>
          </a:bodyPr>
          <a:lstStyle/>
          <a:p>
            <a:pPr marL="64770" marR="50165" algn="just">
              <a:lnSpc>
                <a:spcPct val="100000"/>
              </a:lnSpc>
              <a:spcAft>
                <a:spcPts val="0"/>
              </a:spcAft>
            </a:pPr>
            <a:endParaRPr lang="es-MX" sz="2200" dirty="0">
              <a:effectLst/>
              <a:ea typeface="Times New Roman" panose="02020603050405020304" pitchFamily="18" charset="0"/>
              <a:cs typeface="Times New Roman" panose="02020603050405020304" pitchFamily="18" charset="0"/>
            </a:endParaRPr>
          </a:p>
        </p:txBody>
      </p:sp>
      <p:sp>
        <p:nvSpPr>
          <p:cNvPr id="7" name="8 Rectángulo">
            <a:extLst>
              <a:ext uri="{FF2B5EF4-FFF2-40B4-BE49-F238E27FC236}">
                <a16:creationId xmlns:a16="http://schemas.microsoft.com/office/drawing/2014/main" id="{081BA121-FECC-DCB8-10C8-F4C6912764F6}"/>
              </a:ext>
            </a:extLst>
          </p:cNvPr>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4/14</a:t>
            </a:r>
          </a:p>
        </p:txBody>
      </p:sp>
      <p:pic>
        <p:nvPicPr>
          <p:cNvPr id="8" name="Imagen 7">
            <a:extLst>
              <a:ext uri="{FF2B5EF4-FFF2-40B4-BE49-F238E27FC236}">
                <a16:creationId xmlns:a16="http://schemas.microsoft.com/office/drawing/2014/main" id="{F0A242D2-7645-9427-193F-E68ABCB19CF1}"/>
              </a:ext>
            </a:extLst>
          </p:cNvPr>
          <p:cNvPicPr>
            <a:picLocks noChangeAspect="1"/>
          </p:cNvPicPr>
          <p:nvPr/>
        </p:nvPicPr>
        <p:blipFill>
          <a:blip r:embed="rId3"/>
          <a:srcRect l="2560" t="2899" r="2685" b="1440"/>
          <a:stretch>
            <a:fillRect/>
          </a:stretch>
        </p:blipFill>
        <p:spPr>
          <a:xfrm>
            <a:off x="2051720" y="404664"/>
            <a:ext cx="5328592" cy="4752528"/>
          </a:xfrm>
          <a:prstGeom prst="rect">
            <a:avLst/>
          </a:prstGeom>
        </p:spPr>
      </p:pic>
      <p:sp>
        <p:nvSpPr>
          <p:cNvPr id="11" name="CuadroTexto 10">
            <a:extLst>
              <a:ext uri="{FF2B5EF4-FFF2-40B4-BE49-F238E27FC236}">
                <a16:creationId xmlns:a16="http://schemas.microsoft.com/office/drawing/2014/main" id="{D2816FAC-C3C1-F745-0AAD-82B242C76E16}"/>
              </a:ext>
            </a:extLst>
          </p:cNvPr>
          <p:cNvSpPr txBox="1"/>
          <p:nvPr/>
        </p:nvSpPr>
        <p:spPr>
          <a:xfrm>
            <a:off x="348757" y="548680"/>
            <a:ext cx="4414037" cy="384721"/>
          </a:xfrm>
          <a:prstGeom prst="rect">
            <a:avLst/>
          </a:prstGeom>
          <a:noFill/>
        </p:spPr>
        <p:txBody>
          <a:bodyPr wrap="square" rtlCol="0">
            <a:spAutoFit/>
          </a:bodyPr>
          <a:lstStyle/>
          <a:p>
            <a:r>
              <a:rPr lang="es-419" sz="1900" b="1" dirty="0">
                <a:latin typeface="Arial" panose="020B0604020202020204" pitchFamily="34" charset="0"/>
                <a:cs typeface="Arial" panose="020B0604020202020204" pitchFamily="34" charset="0"/>
              </a:rPr>
              <a:t>Organigrama general</a:t>
            </a:r>
            <a:endParaRPr lang="es-MX" sz="1900" b="1" dirty="0">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id="{5A3FA86B-C720-E1B6-9D9B-50E4F299693A}"/>
              </a:ext>
            </a:extLst>
          </p:cNvPr>
          <p:cNvSpPr/>
          <p:nvPr/>
        </p:nvSpPr>
        <p:spPr>
          <a:xfrm>
            <a:off x="3252568" y="5090690"/>
            <a:ext cx="2638864" cy="276999"/>
          </a:xfrm>
          <a:prstGeom prst="rect">
            <a:avLst/>
          </a:prstGeom>
          <a:noFill/>
        </p:spPr>
        <p:txBody>
          <a:bodyPr wrap="none" lIns="91440" tIns="45720" rIns="91440" bIns="45720">
            <a:spAutoFit/>
          </a:bodyPr>
          <a:lstStyle/>
          <a:p>
            <a:pPr algn="ct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Figura 2 Herramientas de desarrollo</a:t>
            </a:r>
            <a:endParaRPr lang="es-ES" sz="12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5" name="Rectángulo 14">
            <a:extLst>
              <a:ext uri="{FF2B5EF4-FFF2-40B4-BE49-F238E27FC236}">
                <a16:creationId xmlns:a16="http://schemas.microsoft.com/office/drawing/2014/main" id="{1011919D-A186-BC35-A880-037266394CD6}"/>
              </a:ext>
            </a:extLst>
          </p:cNvPr>
          <p:cNvSpPr/>
          <p:nvPr/>
        </p:nvSpPr>
        <p:spPr>
          <a:xfrm>
            <a:off x="3707904" y="5301208"/>
            <a:ext cx="1460656" cy="276999"/>
          </a:xfrm>
          <a:prstGeom prst="rect">
            <a:avLst/>
          </a:prstGeom>
          <a:noFill/>
        </p:spPr>
        <p:txBody>
          <a:bodyPr wrap="none" lIns="91440" tIns="45720" rIns="91440" bIns="45720">
            <a:spAutoFit/>
          </a:bodyPr>
          <a:lstStyle/>
          <a:p>
            <a:pPr algn="ctr"/>
            <a:r>
              <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E</a:t>
            </a: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laboración propia</a:t>
            </a:r>
            <a:endPar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8475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0FB5-E5F6-B4B0-010D-CF9AE8E7C5B0}"/>
            </a:ext>
          </a:extLst>
        </p:cNvPr>
        <p:cNvGrpSpPr/>
        <p:nvPr/>
      </p:nvGrpSpPr>
      <p:grpSpPr>
        <a:xfrm>
          <a:off x="0" y="0"/>
          <a:ext cx="0" cy="0"/>
          <a:chOff x="0" y="0"/>
          <a:chExt cx="0" cy="0"/>
        </a:xfrm>
      </p:grpSpPr>
      <p:pic>
        <p:nvPicPr>
          <p:cNvPr id="6" name="5 Imagen">
            <a:extLst>
              <a:ext uri="{FF2B5EF4-FFF2-40B4-BE49-F238E27FC236}">
                <a16:creationId xmlns:a16="http://schemas.microsoft.com/office/drawing/2014/main" id="{0774098B-2D09-F6D1-481A-0164773652E0}"/>
              </a:ext>
            </a:extLst>
          </p:cNvPr>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2" name="Rectángulo 1">
            <a:extLst>
              <a:ext uri="{FF2B5EF4-FFF2-40B4-BE49-F238E27FC236}">
                <a16:creationId xmlns:a16="http://schemas.microsoft.com/office/drawing/2014/main" id="{E036367C-E64E-E21D-31F8-507C3C67CB19}"/>
              </a:ext>
            </a:extLst>
          </p:cNvPr>
          <p:cNvSpPr/>
          <p:nvPr/>
        </p:nvSpPr>
        <p:spPr>
          <a:xfrm>
            <a:off x="539552" y="1340768"/>
            <a:ext cx="8064896" cy="2554545"/>
          </a:xfrm>
          <a:prstGeom prst="rect">
            <a:avLst/>
          </a:prstGeom>
        </p:spPr>
        <p:txBody>
          <a:bodyPr wrap="square">
            <a:spAutoFit/>
          </a:bodyPr>
          <a:lstStyle/>
          <a:p>
            <a:pPr marL="64770" marR="50165" algn="just">
              <a:lnSpc>
                <a:spcPct val="100000"/>
              </a:lnSpc>
              <a:spcAft>
                <a:spcPts val="0"/>
              </a:spcAft>
            </a:pPr>
            <a:r>
              <a:rPr lang="es-ES" sz="2000" dirty="0"/>
              <a:t>Una plataforma integral, se define como un paquete integrado de servicios y herramientas de software que proporciona una base completa para el ciclo de vida de una aplicación o sistema. (Google Cloud, s.f.). </a:t>
            </a:r>
          </a:p>
          <a:p>
            <a:pPr marL="64770" marR="50165" algn="just">
              <a:lnSpc>
                <a:spcPct val="100000"/>
              </a:lnSpc>
              <a:spcAft>
                <a:spcPts val="0"/>
              </a:spcAft>
            </a:pPr>
            <a:r>
              <a:rPr lang="es-ES" sz="2000" dirty="0">
                <a:effectLst/>
                <a:ea typeface="Times New Roman" panose="02020603050405020304" pitchFamily="18" charset="0"/>
                <a:cs typeface="Times New Roman" panose="02020603050405020304" pitchFamily="18" charset="0"/>
              </a:rPr>
              <a:t>En las siguientes diapositivas se muestra el primer avance del proyecto desarrollado en residencia, detallando las generalidades de la institución, el planteamiento del problema, así como los beneficios de su solución. Finalizando con la demostración del avance del documento y del proyecto que se esta desarrollando. </a:t>
            </a:r>
            <a:endParaRPr lang="es-MX" sz="2000" dirty="0">
              <a:effectLst/>
              <a:ea typeface="Times New Roman" panose="02020603050405020304" pitchFamily="18" charset="0"/>
              <a:cs typeface="Times New Roman" panose="02020603050405020304" pitchFamily="18" charset="0"/>
            </a:endParaRPr>
          </a:p>
        </p:txBody>
      </p:sp>
      <p:sp>
        <p:nvSpPr>
          <p:cNvPr id="5" name="8 Rectángulo">
            <a:extLst>
              <a:ext uri="{FF2B5EF4-FFF2-40B4-BE49-F238E27FC236}">
                <a16:creationId xmlns:a16="http://schemas.microsoft.com/office/drawing/2014/main" id="{8269ACD6-7190-89AD-54A4-0D715DE3AEA3}"/>
              </a:ext>
            </a:extLst>
          </p:cNvPr>
          <p:cNvSpPr/>
          <p:nvPr/>
        </p:nvSpPr>
        <p:spPr>
          <a:xfrm>
            <a:off x="5666381" y="25758"/>
            <a:ext cx="3477619"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Introducción </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a:extLst>
              <a:ext uri="{FF2B5EF4-FFF2-40B4-BE49-F238E27FC236}">
                <a16:creationId xmlns:a16="http://schemas.microsoft.com/office/drawing/2014/main" id="{B3C15986-8DAD-11E2-9002-4B1E37D9B046}"/>
              </a:ext>
            </a:extLst>
          </p:cNvPr>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5/14</a:t>
            </a:r>
          </a:p>
        </p:txBody>
      </p:sp>
    </p:spTree>
    <p:extLst>
      <p:ext uri="{BB962C8B-B14F-4D97-AF65-F5344CB8AC3E}">
        <p14:creationId xmlns:p14="http://schemas.microsoft.com/office/powerpoint/2010/main" val="596632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2" name="Rectángulo 1"/>
          <p:cNvSpPr/>
          <p:nvPr/>
        </p:nvSpPr>
        <p:spPr>
          <a:xfrm>
            <a:off x="494728" y="1093979"/>
            <a:ext cx="8154544" cy="4108817"/>
          </a:xfrm>
          <a:prstGeom prst="rect">
            <a:avLst/>
          </a:prstGeom>
        </p:spPr>
        <p:txBody>
          <a:bodyPr wrap="square">
            <a:spAutoFit/>
          </a:bodyPr>
          <a:lstStyle/>
          <a:p>
            <a:pPr marL="64770" marR="50165" algn="just"/>
            <a:r>
              <a:rPr lang="es-MX" sz="2000" dirty="0">
                <a:latin typeface="Arial" panose="020B0604020202020204" pitchFamily="34" charset="0"/>
                <a:ea typeface="Times New Roman" panose="02020603050405020304" pitchFamily="18" charset="0"/>
                <a:cs typeface="Arial" panose="020B0604020202020204" pitchFamily="34" charset="0"/>
              </a:rPr>
              <a:t>Actualmente en </a:t>
            </a:r>
            <a:r>
              <a:rPr lang="es-MX" sz="2000" dirty="0">
                <a:latin typeface="Arial" panose="020B0604020202020204" pitchFamily="34" charset="0"/>
                <a:cs typeface="Arial" panose="020B0604020202020204" pitchFamily="34" charset="0"/>
              </a:rPr>
              <a:t>el Hospital Mazahua, el control de farmacia y la asignación de citas continúan manejándose de manera manual o con hojas de cálculo aisladas. Esta dependencia de métodos tradicionales causa inconsistencias en el stock de medicamentos, riesgo de caducidades no detectadas, cruces de horarios y largas esperas para los pacientes. </a:t>
            </a:r>
          </a:p>
          <a:p>
            <a:pPr marL="64770" marR="50165" algn="just"/>
            <a:r>
              <a:rPr lang="es-MX" sz="2000" dirty="0">
                <a:latin typeface="Arial" panose="020B0604020202020204" pitchFamily="34" charset="0"/>
                <a:cs typeface="Arial" panose="020B0604020202020204" pitchFamily="34" charset="0"/>
              </a:rPr>
              <a:t>Por lo anterior, surge la siguiente pregunta generadora:</a:t>
            </a:r>
          </a:p>
          <a:p>
            <a:pPr marL="64770" marR="50165" algn="just"/>
            <a:r>
              <a:rPr lang="es-MX" sz="2000" b="1" dirty="0">
                <a:latin typeface="Arial" panose="020B0604020202020204" pitchFamily="34" charset="0"/>
                <a:cs typeface="Arial" panose="020B0604020202020204" pitchFamily="34" charset="0"/>
              </a:rPr>
              <a:t>¿La implementación de una plataforma integral para la gestión de medicamentos y la programación de citas optimizará los procesos administrativos y la calidad de la atención al paciente en el Centro de Orientación Familiar y Salud, I. A. P. (Hospital Mazahua)?</a:t>
            </a:r>
          </a:p>
          <a:p>
            <a:pPr marL="64770" marR="50165" algn="just">
              <a:lnSpc>
                <a:spcPct val="100000"/>
              </a:lnSpc>
              <a:spcAft>
                <a:spcPts val="0"/>
              </a:spcAft>
            </a:pPr>
            <a:endParaRPr lang="es-MX" sz="21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8 Rectángulo"/>
          <p:cNvSpPr/>
          <p:nvPr/>
        </p:nvSpPr>
        <p:spPr>
          <a:xfrm>
            <a:off x="1966436" y="0"/>
            <a:ext cx="7162218"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Planteamiento de problema</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6/14</a:t>
            </a:r>
          </a:p>
        </p:txBody>
      </p:sp>
    </p:spTree>
    <p:extLst>
      <p:ext uri="{BB962C8B-B14F-4D97-AF65-F5344CB8AC3E}">
        <p14:creationId xmlns:p14="http://schemas.microsoft.com/office/powerpoint/2010/main" val="145341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4" name="8 Rectángulo"/>
          <p:cNvSpPr/>
          <p:nvPr/>
        </p:nvSpPr>
        <p:spPr>
          <a:xfrm>
            <a:off x="5909948" y="0"/>
            <a:ext cx="3213508"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Justificación</a:t>
            </a:r>
          </a:p>
        </p:txBody>
      </p:sp>
      <p:sp>
        <p:nvSpPr>
          <p:cNvPr id="5"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7/14</a:t>
            </a:r>
          </a:p>
        </p:txBody>
      </p:sp>
      <p:sp>
        <p:nvSpPr>
          <p:cNvPr id="3" name="Rectángulo 2"/>
          <p:cNvSpPr/>
          <p:nvPr/>
        </p:nvSpPr>
        <p:spPr>
          <a:xfrm>
            <a:off x="755576" y="1340768"/>
            <a:ext cx="7778097" cy="2862322"/>
          </a:xfrm>
          <a:prstGeom prst="rect">
            <a:avLst/>
          </a:prstGeom>
        </p:spPr>
        <p:txBody>
          <a:bodyPr wrap="square">
            <a:spAutoFit/>
          </a:bodyPr>
          <a:lstStyle/>
          <a:p>
            <a:pPr algn="just">
              <a:lnSpc>
                <a:spcPct val="100000"/>
              </a:lnSpc>
            </a:pPr>
            <a:r>
              <a:rPr lang="es-419" sz="2000" dirty="0">
                <a:latin typeface="Arial" panose="020B0604020202020204" pitchFamily="34" charset="0"/>
                <a:cs typeface="Arial" panose="020B0604020202020204" pitchFamily="34" charset="0"/>
              </a:rPr>
              <a:t>Los motivos por el cual se desarrollará el proyecto es para poder automatizar los procesos actuales en el registro de salidas y entradas de los medicamento, así mismo como el proceso de realización de citas medicas.</a:t>
            </a:r>
          </a:p>
          <a:p>
            <a:pPr algn="just">
              <a:lnSpc>
                <a:spcPct val="100000"/>
              </a:lnSpc>
            </a:pPr>
            <a:r>
              <a:rPr lang="es-MX" sz="2000" dirty="0">
                <a:latin typeface="Arial" panose="020B0604020202020204" pitchFamily="34" charset="0"/>
                <a:cs typeface="Arial" panose="020B0604020202020204" pitchFamily="34" charset="0"/>
              </a:rPr>
              <a:t>Esto para poder beneficiar a la unidad médica, evitando problemas de desbasto o perdida de medicamentos y el problema de gestión manual ineficiente de citas médicas.</a:t>
            </a:r>
          </a:p>
          <a:p>
            <a:pPr algn="just">
              <a:lnSpc>
                <a:spcPct val="100000"/>
              </a:lnSpc>
            </a:pPr>
            <a:r>
              <a:rPr lang="es-MX" sz="2000" dirty="0">
                <a:latin typeface="Arial" panose="020B0604020202020204" pitchFamily="34" charset="0"/>
                <a:cs typeface="Arial" panose="020B0604020202020204" pitchFamily="34" charset="0"/>
              </a:rPr>
              <a:t>Este cambio beneficia principalmente a los pacientes que acuden concurrentemente a la unidad.</a:t>
            </a:r>
          </a:p>
        </p:txBody>
      </p:sp>
    </p:spTree>
    <p:extLst>
      <p:ext uri="{BB962C8B-B14F-4D97-AF65-F5344CB8AC3E}">
        <p14:creationId xmlns:p14="http://schemas.microsoft.com/office/powerpoint/2010/main" val="45549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6" name="Rectángulo 5"/>
          <p:cNvSpPr/>
          <p:nvPr/>
        </p:nvSpPr>
        <p:spPr>
          <a:xfrm>
            <a:off x="719572" y="620688"/>
            <a:ext cx="7704856" cy="5810052"/>
          </a:xfrm>
          <a:prstGeom prst="rect">
            <a:avLst/>
          </a:prstGeom>
        </p:spPr>
        <p:txBody>
          <a:bodyPr wrap="square">
            <a:spAutoFit/>
          </a:bodyPr>
          <a:lstStyle/>
          <a:p>
            <a:pPr algn="just">
              <a:lnSpc>
                <a:spcPct val="150000"/>
              </a:lnSpc>
              <a:spcAft>
                <a:spcPts val="0"/>
              </a:spcAft>
            </a:pPr>
            <a:r>
              <a:rPr lang="es-ES" sz="2400" b="1" dirty="0">
                <a:latin typeface="Arial" panose="020B0604020202020204" pitchFamily="34" charset="0"/>
                <a:ea typeface="Times New Roman" panose="02020603050405020304" pitchFamily="18" charset="0"/>
                <a:cs typeface="Arial" panose="020B0604020202020204" pitchFamily="34" charset="0"/>
              </a:rPr>
              <a:t>General</a:t>
            </a:r>
            <a:endParaRPr lang="es-MX" sz="2400" dirty="0">
              <a:latin typeface="Arial" panose="020B0604020202020204" pitchFamily="34" charset="0"/>
              <a:ea typeface="Times New Roman" panose="02020603050405020304" pitchFamily="18" charset="0"/>
              <a:cs typeface="Arial" panose="020B0604020202020204" pitchFamily="34" charset="0"/>
            </a:endParaRPr>
          </a:p>
          <a:p>
            <a:pPr algn="just">
              <a:lnSpc>
                <a:spcPct val="100000"/>
              </a:lnSpc>
            </a:pPr>
            <a:r>
              <a:rPr lang="es-ES" sz="2000" dirty="0"/>
              <a:t>Desarrollar una plataforma integral para la gestión de medicamentos y generación de citas del Centro de Orientación Familiar y Salud, I. A. P. (Hospital Mazahua), mediante la digitalización y centralización de la información, con el fin de optimizar los procesos administrativos y mejorar la atención al paciente.</a:t>
            </a:r>
            <a:endParaRPr lang="es-MX" sz="2000" dirty="0"/>
          </a:p>
          <a:p>
            <a:pPr algn="just">
              <a:lnSpc>
                <a:spcPct val="150000"/>
              </a:lnSpc>
            </a:pPr>
            <a:r>
              <a:rPr lang="es-ES" sz="2400" b="1" dirty="0">
                <a:latin typeface="Arial" panose="020B0604020202020204" pitchFamily="34" charset="0"/>
                <a:ea typeface="Times New Roman" panose="02020603050405020304" pitchFamily="18" charset="0"/>
                <a:cs typeface="Arial" panose="020B0604020202020204" pitchFamily="34" charset="0"/>
              </a:rPr>
              <a:t>Específicos</a:t>
            </a:r>
          </a:p>
          <a:p>
            <a:pPr marL="285750" lvl="0" indent="-285750" algn="just">
              <a:buFont typeface="Arial" panose="020B0604020202020204" pitchFamily="34" charset="0"/>
              <a:buChar char="•"/>
            </a:pPr>
            <a:r>
              <a:rPr lang="es-ES" sz="2000" dirty="0"/>
              <a:t>Controlar las entradas, salidas, existencias y caducidades de medicamentos.</a:t>
            </a:r>
            <a:endParaRPr lang="es-MX" sz="2000" dirty="0"/>
          </a:p>
          <a:p>
            <a:pPr marL="285750" lvl="0" indent="-285750" algn="just">
              <a:buFont typeface="Arial" panose="020B0604020202020204" pitchFamily="34" charset="0"/>
              <a:buChar char="•"/>
            </a:pPr>
            <a:r>
              <a:rPr lang="es-ES" sz="2000" dirty="0"/>
              <a:t>Administrar la disponibilidad de médicos, horarios y citas médicas.</a:t>
            </a:r>
            <a:endParaRPr lang="es-MX" sz="2000" dirty="0"/>
          </a:p>
          <a:p>
            <a:pPr marL="285750" lvl="0" indent="-285750" algn="just">
              <a:buFont typeface="Arial" panose="020B0604020202020204" pitchFamily="34" charset="0"/>
              <a:buChar char="•"/>
            </a:pPr>
            <a:r>
              <a:rPr lang="es-ES" sz="2000" dirty="0"/>
              <a:t>Generar reportes que faciliten la toma de decisiones administrativas.</a:t>
            </a:r>
            <a:endParaRPr lang="es-MX" sz="2000" dirty="0"/>
          </a:p>
          <a:p>
            <a:pPr marL="285750" lvl="0" indent="-285750" algn="just">
              <a:buFont typeface="Arial" panose="020B0604020202020204" pitchFamily="34" charset="0"/>
              <a:buChar char="•"/>
            </a:pPr>
            <a:r>
              <a:rPr lang="es-ES" sz="2000" dirty="0"/>
              <a:t>Validar el funcionamiento de la plataforma mediante pruebas de los módulos implementados.</a:t>
            </a:r>
            <a:endParaRPr lang="es-MX" sz="2000" dirty="0"/>
          </a:p>
          <a:p>
            <a:pPr algn="just">
              <a:lnSpc>
                <a:spcPct val="150000"/>
              </a:lnSpc>
            </a:pPr>
            <a:endParaRPr lang="es-MX" sz="2400"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endParaRPr lang="es-MX" sz="2400" dirty="0">
              <a:latin typeface="Arial" panose="020B0604020202020204" pitchFamily="34" charset="0"/>
              <a:ea typeface="Times New Roman" panose="02020603050405020304" pitchFamily="18" charset="0"/>
              <a:cs typeface="Arial" panose="020B0604020202020204" pitchFamily="34" charset="0"/>
            </a:endParaRPr>
          </a:p>
        </p:txBody>
      </p:sp>
      <p:sp>
        <p:nvSpPr>
          <p:cNvPr id="5" name="8 Rectángulo"/>
          <p:cNvSpPr/>
          <p:nvPr/>
        </p:nvSpPr>
        <p:spPr>
          <a:xfrm>
            <a:off x="6592725" y="13603"/>
            <a:ext cx="2551275"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Objetivos</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8/14</a:t>
            </a:r>
          </a:p>
        </p:txBody>
      </p:sp>
    </p:spTree>
    <p:extLst>
      <p:ext uri="{BB962C8B-B14F-4D97-AF65-F5344CB8AC3E}">
        <p14:creationId xmlns:p14="http://schemas.microsoft.com/office/powerpoint/2010/main" val="3047826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5" name="8 Rectángulo"/>
          <p:cNvSpPr/>
          <p:nvPr/>
        </p:nvSpPr>
        <p:spPr>
          <a:xfrm>
            <a:off x="5554435" y="16623"/>
            <a:ext cx="3576621"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Herramientas</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9/14</a:t>
            </a:r>
          </a:p>
        </p:txBody>
      </p:sp>
      <p:pic>
        <p:nvPicPr>
          <p:cNvPr id="8" name="Imagen 7">
            <a:extLst>
              <a:ext uri="{FF2B5EF4-FFF2-40B4-BE49-F238E27FC236}">
                <a16:creationId xmlns:a16="http://schemas.microsoft.com/office/drawing/2014/main" id="{8988B6B0-B94D-A783-999F-962541599CE8}"/>
              </a:ext>
            </a:extLst>
          </p:cNvPr>
          <p:cNvPicPr>
            <a:picLocks noChangeAspect="1"/>
          </p:cNvPicPr>
          <p:nvPr/>
        </p:nvPicPr>
        <p:blipFill>
          <a:blip r:embed="rId3"/>
          <a:stretch>
            <a:fillRect/>
          </a:stretch>
        </p:blipFill>
        <p:spPr>
          <a:xfrm>
            <a:off x="755576" y="944559"/>
            <a:ext cx="7834274" cy="3739452"/>
          </a:xfrm>
          <a:prstGeom prst="rect">
            <a:avLst/>
          </a:prstGeom>
          <a:ln>
            <a:solidFill>
              <a:schemeClr val="tx1"/>
            </a:solidFill>
          </a:ln>
        </p:spPr>
      </p:pic>
      <p:sp>
        <p:nvSpPr>
          <p:cNvPr id="9" name="Rectángulo 8">
            <a:extLst>
              <a:ext uri="{FF2B5EF4-FFF2-40B4-BE49-F238E27FC236}">
                <a16:creationId xmlns:a16="http://schemas.microsoft.com/office/drawing/2014/main" id="{17D30DCB-6F97-31BC-3386-717B2EE1BE79}"/>
              </a:ext>
            </a:extLst>
          </p:cNvPr>
          <p:cNvSpPr/>
          <p:nvPr/>
        </p:nvSpPr>
        <p:spPr>
          <a:xfrm>
            <a:off x="3252567" y="4684011"/>
            <a:ext cx="2638864" cy="276999"/>
          </a:xfrm>
          <a:prstGeom prst="rect">
            <a:avLst/>
          </a:prstGeom>
          <a:noFill/>
        </p:spPr>
        <p:txBody>
          <a:bodyPr wrap="none" lIns="91440" tIns="45720" rIns="91440" bIns="45720">
            <a:spAutoFit/>
          </a:bodyPr>
          <a:lstStyle/>
          <a:p>
            <a:pPr algn="ct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Figura 3 Herramientas de desarrollo</a:t>
            </a:r>
            <a:endPar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2" name="Rectángulo 11">
            <a:extLst>
              <a:ext uri="{FF2B5EF4-FFF2-40B4-BE49-F238E27FC236}">
                <a16:creationId xmlns:a16="http://schemas.microsoft.com/office/drawing/2014/main" id="{70B6DF4C-A65D-079C-5465-0E29BC4B6B7F}"/>
              </a:ext>
            </a:extLst>
          </p:cNvPr>
          <p:cNvSpPr/>
          <p:nvPr/>
        </p:nvSpPr>
        <p:spPr>
          <a:xfrm>
            <a:off x="3841671" y="4869160"/>
            <a:ext cx="1460656" cy="276999"/>
          </a:xfrm>
          <a:prstGeom prst="rect">
            <a:avLst/>
          </a:prstGeom>
          <a:noFill/>
        </p:spPr>
        <p:txBody>
          <a:bodyPr wrap="none" lIns="91440" tIns="45720" rIns="91440" bIns="45720">
            <a:spAutoFit/>
          </a:bodyPr>
          <a:lstStyle/>
          <a:p>
            <a:pPr algn="ctr"/>
            <a:r>
              <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E</a:t>
            </a:r>
            <a:r>
              <a:rPr lang="es-ES" sz="12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laboración propia</a:t>
            </a:r>
            <a:endParaRPr lang="es-E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1264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4" name="8 Rectángulo"/>
          <p:cNvSpPr/>
          <p:nvPr/>
        </p:nvSpPr>
        <p:spPr>
          <a:xfrm>
            <a:off x="6525690" y="0"/>
            <a:ext cx="1982017"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Avance</a:t>
            </a:r>
          </a:p>
        </p:txBody>
      </p:sp>
      <p:sp>
        <p:nvSpPr>
          <p:cNvPr id="5"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10/14</a:t>
            </a:r>
          </a:p>
        </p:txBody>
      </p:sp>
      <p:sp>
        <p:nvSpPr>
          <p:cNvPr id="3" name="Rectángulo 2"/>
          <p:cNvSpPr/>
          <p:nvPr/>
        </p:nvSpPr>
        <p:spPr>
          <a:xfrm>
            <a:off x="713846" y="1144665"/>
            <a:ext cx="7778097" cy="2060885"/>
          </a:xfrm>
          <a:prstGeom prst="rect">
            <a:avLst/>
          </a:prstGeom>
        </p:spPr>
        <p:txBody>
          <a:bodyPr wrap="square">
            <a:spAutoFit/>
          </a:bodyPr>
          <a:lstStyle/>
          <a:p>
            <a:pPr algn="just">
              <a:lnSpc>
                <a:spcPct val="150000"/>
              </a:lnSpc>
            </a:pPr>
            <a:r>
              <a:rPr lang="es-MX" sz="2200" dirty="0">
                <a:latin typeface="Arial" panose="020B0604020202020204" pitchFamily="34" charset="0"/>
                <a:cs typeface="Arial" panose="020B0604020202020204" pitchFamily="34" charset="0"/>
              </a:rPr>
              <a:t>Link al documento….</a:t>
            </a:r>
          </a:p>
          <a:p>
            <a:pPr algn="just">
              <a:lnSpc>
                <a:spcPct val="100000"/>
              </a:lnSpc>
            </a:pPr>
            <a:endParaRPr lang="es-MX" sz="2200" dirty="0">
              <a:latin typeface="Arial" panose="020B0604020202020204" pitchFamily="34" charset="0"/>
              <a:cs typeface="Arial" panose="020B0604020202020204" pitchFamily="34" charset="0"/>
            </a:endParaRPr>
          </a:p>
          <a:p>
            <a:pPr algn="just">
              <a:lnSpc>
                <a:spcPct val="150000"/>
              </a:lnSpc>
            </a:pPr>
            <a:endParaRPr lang="es-MX" sz="2200" dirty="0">
              <a:latin typeface="Arial" panose="020B0604020202020204" pitchFamily="34" charset="0"/>
              <a:cs typeface="Arial" panose="020B0604020202020204" pitchFamily="34" charset="0"/>
            </a:endParaRPr>
          </a:p>
          <a:p>
            <a:pPr algn="just">
              <a:lnSpc>
                <a:spcPct val="150000"/>
              </a:lnSpc>
            </a:pPr>
            <a:r>
              <a:rPr lang="es-MX" sz="2200" dirty="0">
                <a:latin typeface="Arial" panose="020B0604020202020204" pitchFamily="34" charset="0"/>
                <a:cs typeface="Arial" panose="020B0604020202020204" pitchFamily="34" charset="0"/>
              </a:rPr>
              <a:t>Link al proyecto…</a:t>
            </a:r>
          </a:p>
        </p:txBody>
      </p:sp>
    </p:spTree>
    <p:extLst>
      <p:ext uri="{BB962C8B-B14F-4D97-AF65-F5344CB8AC3E}">
        <p14:creationId xmlns:p14="http://schemas.microsoft.com/office/powerpoint/2010/main" val="242476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FCAF-3065-9A59-7946-F4A0C2099399}"/>
            </a:ext>
          </a:extLst>
        </p:cNvPr>
        <p:cNvGrpSpPr/>
        <p:nvPr/>
      </p:nvGrpSpPr>
      <p:grpSpPr>
        <a:xfrm>
          <a:off x="0" y="0"/>
          <a:ext cx="0" cy="0"/>
          <a:chOff x="0" y="0"/>
          <a:chExt cx="0" cy="0"/>
        </a:xfrm>
      </p:grpSpPr>
      <p:pic>
        <p:nvPicPr>
          <p:cNvPr id="6" name="5 Imagen">
            <a:extLst>
              <a:ext uri="{FF2B5EF4-FFF2-40B4-BE49-F238E27FC236}">
                <a16:creationId xmlns:a16="http://schemas.microsoft.com/office/drawing/2014/main" id="{5130276E-1413-8105-BFEA-35731BC00C91}"/>
              </a:ext>
            </a:extLst>
          </p:cNvPr>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4" name="8 Rectángulo">
            <a:extLst>
              <a:ext uri="{FF2B5EF4-FFF2-40B4-BE49-F238E27FC236}">
                <a16:creationId xmlns:a16="http://schemas.microsoft.com/office/drawing/2014/main" id="{12301700-D7B9-B2DD-F998-8B9140512195}"/>
              </a:ext>
            </a:extLst>
          </p:cNvPr>
          <p:cNvSpPr/>
          <p:nvPr/>
        </p:nvSpPr>
        <p:spPr>
          <a:xfrm>
            <a:off x="2134936" y="0"/>
            <a:ext cx="6986080"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Cronograma de actividades</a:t>
            </a:r>
          </a:p>
        </p:txBody>
      </p:sp>
      <p:sp>
        <p:nvSpPr>
          <p:cNvPr id="5" name="8 Rectángulo">
            <a:extLst>
              <a:ext uri="{FF2B5EF4-FFF2-40B4-BE49-F238E27FC236}">
                <a16:creationId xmlns:a16="http://schemas.microsoft.com/office/drawing/2014/main" id="{E1766CF6-1F5F-0D7D-F055-227646CB867F}"/>
              </a:ext>
            </a:extLst>
          </p:cNvPr>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11/14</a:t>
            </a:r>
          </a:p>
        </p:txBody>
      </p:sp>
      <p:pic>
        <p:nvPicPr>
          <p:cNvPr id="9" name="Imagen 8">
            <a:extLst>
              <a:ext uri="{FF2B5EF4-FFF2-40B4-BE49-F238E27FC236}">
                <a16:creationId xmlns:a16="http://schemas.microsoft.com/office/drawing/2014/main" id="{77CA1157-8BB3-B26B-1569-2931555F042A}"/>
              </a:ext>
            </a:extLst>
          </p:cNvPr>
          <p:cNvPicPr>
            <a:picLocks noChangeAspect="1"/>
          </p:cNvPicPr>
          <p:nvPr/>
        </p:nvPicPr>
        <p:blipFill>
          <a:blip r:embed="rId3"/>
          <a:srcRect t="650"/>
          <a:stretch>
            <a:fillRect/>
          </a:stretch>
        </p:blipFill>
        <p:spPr>
          <a:xfrm>
            <a:off x="2051720" y="908720"/>
            <a:ext cx="5500174" cy="5447691"/>
          </a:xfrm>
          <a:prstGeom prst="rect">
            <a:avLst/>
          </a:prstGeom>
        </p:spPr>
      </p:pic>
    </p:spTree>
    <p:extLst>
      <p:ext uri="{BB962C8B-B14F-4D97-AF65-F5344CB8AC3E}">
        <p14:creationId xmlns:p14="http://schemas.microsoft.com/office/powerpoint/2010/main" val="322917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5" name="CuadroTexto 4"/>
          <p:cNvSpPr txBox="1"/>
          <p:nvPr/>
        </p:nvSpPr>
        <p:spPr>
          <a:xfrm>
            <a:off x="971600" y="1423934"/>
            <a:ext cx="7200800" cy="2862322"/>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El proyecto se encuentra aún en desarrollo, con un avance del 35%, ya que cumple con el primer módulo de la difusión de la unidad estableciendo toda la información de los servicios que ofrece así mismo como la forma de contacto de la misma, ya con el desarrollo en código y ejecutándose de forma local. </a:t>
            </a:r>
          </a:p>
          <a:p>
            <a:pPr algn="just"/>
            <a:r>
              <a:rPr lang="es-MX" sz="2000" dirty="0">
                <a:latin typeface="Arial" panose="020B0604020202020204" pitchFamily="34" charset="0"/>
                <a:cs typeface="Arial" panose="020B0604020202020204" pitchFamily="34" charset="0"/>
              </a:rPr>
              <a:t>Con los tiempos establecidos en el cronograma de actividades, el proyecto va en un buen tiempo de desarrollo  </a:t>
            </a:r>
          </a:p>
          <a:p>
            <a:pPr algn="just"/>
            <a:endParaRPr lang="es-MX" sz="2000" dirty="0">
              <a:latin typeface="Arial" panose="020B0604020202020204" pitchFamily="34" charset="0"/>
              <a:cs typeface="Arial" panose="020B0604020202020204" pitchFamily="34" charset="0"/>
            </a:endParaRPr>
          </a:p>
        </p:txBody>
      </p:sp>
      <p:sp>
        <p:nvSpPr>
          <p:cNvPr id="6" name="8 Rectángulo"/>
          <p:cNvSpPr/>
          <p:nvPr/>
        </p:nvSpPr>
        <p:spPr>
          <a:xfrm>
            <a:off x="2416132" y="26235"/>
            <a:ext cx="6727868"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Conclusiones preliminares</a:t>
            </a:r>
            <a:endParaRPr lang="es-ES" sz="35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endParaRPr>
          </a:p>
        </p:txBody>
      </p:sp>
      <p:sp>
        <p:nvSpPr>
          <p:cNvPr id="7"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12/14</a:t>
            </a:r>
          </a:p>
        </p:txBody>
      </p:sp>
    </p:spTree>
    <p:extLst>
      <p:ext uri="{BB962C8B-B14F-4D97-AF65-F5344CB8AC3E}">
        <p14:creationId xmlns:p14="http://schemas.microsoft.com/office/powerpoint/2010/main" val="106871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sp>
        <p:nvSpPr>
          <p:cNvPr id="4" name="8 Rectángulo"/>
          <p:cNvSpPr/>
          <p:nvPr/>
        </p:nvSpPr>
        <p:spPr>
          <a:xfrm>
            <a:off x="6017029" y="0"/>
            <a:ext cx="2999346" cy="830997"/>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48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latin typeface="+mj-lt"/>
              </a:rPr>
              <a:t>Bibliografía</a:t>
            </a:r>
          </a:p>
        </p:txBody>
      </p:sp>
      <p:sp>
        <p:nvSpPr>
          <p:cNvPr id="5"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13/14</a:t>
            </a:r>
          </a:p>
        </p:txBody>
      </p:sp>
      <p:sp>
        <p:nvSpPr>
          <p:cNvPr id="3" name="Rectángulo 2"/>
          <p:cNvSpPr/>
          <p:nvPr/>
        </p:nvSpPr>
        <p:spPr>
          <a:xfrm>
            <a:off x="683568" y="1196752"/>
            <a:ext cx="8210145" cy="4138377"/>
          </a:xfrm>
          <a:prstGeom prst="rect">
            <a:avLst/>
          </a:prstGeom>
        </p:spPr>
        <p:txBody>
          <a:bodyPr wrap="square">
            <a:spAutoFit/>
          </a:bodyPr>
          <a:lstStyle/>
          <a:p>
            <a:r>
              <a:rPr lang="es-MX" dirty="0">
                <a:latin typeface="Arial" panose="020B0604020202020204" pitchFamily="34" charset="0"/>
                <a:cs typeface="Arial" panose="020B0604020202020204" pitchFamily="34" charset="0"/>
              </a:rPr>
              <a:t>Awan, A. A. (2024, 24 de abril). Descubre </a:t>
            </a:r>
            <a:r>
              <a:rPr lang="es-MX" dirty="0" err="1">
                <a:latin typeface="Arial" panose="020B0604020202020204" pitchFamily="34" charset="0"/>
                <a:cs typeface="Arial" panose="020B0604020202020204" pitchFamily="34" charset="0"/>
              </a:rPr>
              <a:t>SQLAlchemy</a:t>
            </a:r>
            <a:r>
              <a:rPr lang="es-MX" dirty="0">
                <a:latin typeface="Arial" panose="020B0604020202020204" pitchFamily="34" charset="0"/>
                <a:cs typeface="Arial" panose="020B0604020202020204" pitchFamily="34" charset="0"/>
              </a:rPr>
              <a:t>: un tutorial para principiantes con ejemplos. </a:t>
            </a:r>
            <a:r>
              <a:rPr lang="es-MX" dirty="0" err="1">
                <a:latin typeface="Arial" panose="020B0604020202020204" pitchFamily="34" charset="0"/>
                <a:cs typeface="Arial" panose="020B0604020202020204" pitchFamily="34" charset="0"/>
              </a:rPr>
              <a:t>DataCamp</a:t>
            </a:r>
            <a:r>
              <a:rPr lang="es-MX" dirty="0">
                <a:latin typeface="Arial" panose="020B0604020202020204" pitchFamily="34" charset="0"/>
                <a:cs typeface="Arial" panose="020B0604020202020204" pitchFamily="34" charset="0"/>
              </a:rPr>
              <a:t>. </a:t>
            </a:r>
            <a:r>
              <a:rPr lang="es-MX" u="sng"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https://www.datacamp.com/es/tutorial/sqlalchemy-tutorial-examples</a:t>
            </a:r>
            <a:endParaRPr lang="es-MX" u="sng"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 </a:t>
            </a:r>
          </a:p>
          <a:p>
            <a:r>
              <a:rPr lang="es-MX" dirty="0">
                <a:latin typeface="Arial" panose="020B0604020202020204" pitchFamily="34" charset="0"/>
                <a:cs typeface="Arial" panose="020B0604020202020204" pitchFamily="34" charset="0"/>
              </a:rPr>
              <a:t>Comité de Familiares de Asistencia Social. (s. f.). Hospital Mazahua. Recuperado el 18 de septiembre de 2026, de </a:t>
            </a:r>
            <a:r>
              <a:rPr lang="es-MX"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https://cofasorg.wordpress.com/hospitales/hospital-mazahua-2/</a:t>
            </a:r>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 </a:t>
            </a:r>
          </a:p>
          <a:p>
            <a:r>
              <a:rPr lang="es-MX" dirty="0">
                <a:latin typeface="Arial" panose="020B0604020202020204" pitchFamily="34" charset="0"/>
                <a:cs typeface="Arial" panose="020B0604020202020204" pitchFamily="34" charset="0"/>
              </a:rPr>
              <a:t>Consorcio Mexicano de Hospitales. (s. f.). Hospital Mazahua. Recuperado el 18 de septiembre de 2026, de </a:t>
            </a:r>
            <a:r>
              <a:rPr lang="es-MX"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https://cmhac.com/directory/hospital-mazahua/</a:t>
            </a:r>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 </a:t>
            </a:r>
          </a:p>
          <a:p>
            <a:r>
              <a:rPr lang="es-MX" dirty="0">
                <a:latin typeface="Arial" panose="020B0604020202020204" pitchFamily="34" charset="0"/>
                <a:cs typeface="Arial" panose="020B0604020202020204" pitchFamily="34" charset="0"/>
              </a:rPr>
              <a:t>Coronel, C., y Morris, S. (2019). Sistemas de bases de datos: Diseño, implementación y administración (13.ª ed.). Cengage </a:t>
            </a:r>
            <a:r>
              <a:rPr lang="es-MX" dirty="0" err="1">
                <a:latin typeface="Arial" panose="020B0604020202020204" pitchFamily="34" charset="0"/>
                <a:cs typeface="Arial" panose="020B0604020202020204" pitchFamily="34" charset="0"/>
              </a:rPr>
              <a:t>Learning</a:t>
            </a:r>
            <a:r>
              <a:rPr lang="es-MX" dirty="0">
                <a:latin typeface="Arial" panose="020B0604020202020204" pitchFamily="34" charset="0"/>
                <a:cs typeface="Arial" panose="020B0604020202020204" pitchFamily="34" charset="0"/>
              </a:rPr>
              <a:t>.</a:t>
            </a:r>
          </a:p>
          <a:p>
            <a:pPr algn="just">
              <a:lnSpc>
                <a:spcPct val="150000"/>
              </a:lnSpc>
            </a:pPr>
            <a:endParaRPr lang="es-MX"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848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a:blip r:embed="rId2" cstate="print"/>
          <a:srcRect/>
          <a:stretch>
            <a:fillRect/>
          </a:stretch>
        </p:blipFill>
        <p:spPr bwMode="auto">
          <a:xfrm>
            <a:off x="0" y="4286256"/>
            <a:ext cx="9144000" cy="2571744"/>
          </a:xfrm>
          <a:prstGeom prst="rect">
            <a:avLst/>
          </a:prstGeom>
          <a:noFill/>
          <a:ln w="9525">
            <a:noFill/>
            <a:miter lim="800000"/>
            <a:headEnd/>
            <a:tailEnd/>
          </a:ln>
        </p:spPr>
      </p:pic>
      <p:pic>
        <p:nvPicPr>
          <p:cNvPr id="7" name="Imagen 1" descr="LogoColor"/>
          <p:cNvPicPr>
            <a:picLocks noChangeAspect="1" noChangeArrowheads="1"/>
          </p:cNvPicPr>
          <p:nvPr/>
        </p:nvPicPr>
        <p:blipFill>
          <a:blip r:embed="rId3" cstate="print"/>
          <a:srcRect/>
          <a:stretch>
            <a:fillRect/>
          </a:stretch>
        </p:blipFill>
        <p:spPr bwMode="auto">
          <a:xfrm>
            <a:off x="571472" y="285728"/>
            <a:ext cx="1193801" cy="568325"/>
          </a:xfrm>
          <a:prstGeom prst="rect">
            <a:avLst/>
          </a:prstGeom>
          <a:noFill/>
        </p:spPr>
      </p:pic>
      <p:pic>
        <p:nvPicPr>
          <p:cNvPr id="8" name="Picture 2" descr="sanjose"/>
          <p:cNvPicPr>
            <a:picLocks noChangeAspect="1" noChangeArrowheads="1"/>
          </p:cNvPicPr>
          <p:nvPr/>
        </p:nvPicPr>
        <p:blipFill>
          <a:blip r:embed="rId4" cstate="print"/>
          <a:srcRect/>
          <a:stretch>
            <a:fillRect/>
          </a:stretch>
        </p:blipFill>
        <p:spPr bwMode="auto">
          <a:xfrm>
            <a:off x="7356504" y="214290"/>
            <a:ext cx="1430338" cy="560388"/>
          </a:xfrm>
          <a:prstGeom prst="rect">
            <a:avLst/>
          </a:prstGeom>
          <a:noFill/>
        </p:spPr>
      </p:pic>
      <p:sp>
        <p:nvSpPr>
          <p:cNvPr id="14" name="13 CuadroTexto"/>
          <p:cNvSpPr txBox="1"/>
          <p:nvPr/>
        </p:nvSpPr>
        <p:spPr>
          <a:xfrm>
            <a:off x="7080756" y="6114211"/>
            <a:ext cx="1977087" cy="406853"/>
          </a:xfrm>
          <a:prstGeom prst="rect">
            <a:avLst/>
          </a:prstGeom>
          <a:noFill/>
        </p:spPr>
        <p:txBody>
          <a:bodyPr wrap="square" lIns="91440" tIns="45720" rIns="91440" bIns="45720" rtlCol="0" anchor="t">
            <a:spAutoFit/>
          </a:bodyPr>
          <a:lstStyle/>
          <a:p>
            <a:r>
              <a:rPr lang="es-ES" sz="2000" dirty="0"/>
              <a:t>Octubre de 2026</a:t>
            </a:r>
          </a:p>
        </p:txBody>
      </p:sp>
      <p:sp>
        <p:nvSpPr>
          <p:cNvPr id="9" name="8 Rectángulo"/>
          <p:cNvSpPr/>
          <p:nvPr/>
        </p:nvSpPr>
        <p:spPr>
          <a:xfrm>
            <a:off x="3044623" y="1592786"/>
            <a:ext cx="3456203" cy="1323439"/>
          </a:xfrm>
          <a:prstGeom prst="rect">
            <a:avLst/>
          </a:prstGeom>
          <a:ln>
            <a:no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80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Gracias </a:t>
            </a:r>
          </a:p>
        </p:txBody>
      </p:sp>
      <p:sp>
        <p:nvSpPr>
          <p:cNvPr id="10" name="8 Rectángulo"/>
          <p:cNvSpPr/>
          <p:nvPr/>
        </p:nvSpPr>
        <p:spPr>
          <a:xfrm>
            <a:off x="8461665" y="6519446"/>
            <a:ext cx="682335" cy="338554"/>
          </a:xfrm>
          <a:prstGeom prst="rect">
            <a:avLst/>
          </a:prstGeom>
          <a:ln>
            <a:solidFill>
              <a:schemeClr val="accent3">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s-ES" sz="16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14/14</a:t>
            </a:r>
          </a:p>
        </p:txBody>
      </p:sp>
      <p:sp>
        <p:nvSpPr>
          <p:cNvPr id="11" name="8 Rectángulo"/>
          <p:cNvSpPr/>
          <p:nvPr/>
        </p:nvSpPr>
        <p:spPr>
          <a:xfrm>
            <a:off x="2183489" y="2883442"/>
            <a:ext cx="5527219" cy="1323439"/>
          </a:xfrm>
          <a:prstGeom prst="rect">
            <a:avLst/>
          </a:prstGeom>
          <a:ln>
            <a:noFill/>
          </a:ln>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8000" dirty="0">
                <a:ln w="0">
                  <a:solidFill>
                    <a:schemeClr val="accent3">
                      <a:lumMod val="50000"/>
                    </a:schemeClr>
                  </a:solidFill>
                </a:ln>
                <a:solidFill>
                  <a:schemeClr val="accent3">
                    <a:lumMod val="75000"/>
                  </a:schemeClr>
                </a:solidFill>
                <a:effectLst>
                  <a:reflection blurRad="6350" stA="53000" endA="300" endPos="35500" dir="5400000" sy="-90000" algn="bl" rotWithShape="0"/>
                </a:effectLst>
              </a:rPr>
              <a:t>¿Preguntas? </a:t>
            </a:r>
          </a:p>
        </p:txBody>
      </p:sp>
    </p:spTree>
    <p:extLst>
      <p:ext uri="{BB962C8B-B14F-4D97-AF65-F5344CB8AC3E}">
        <p14:creationId xmlns:p14="http://schemas.microsoft.com/office/powerpoint/2010/main" val="12636775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2770</TotalTime>
  <Words>840</Words>
  <Application>Microsoft Office PowerPoint</Application>
  <PresentationFormat>Presentación en pantalla (4:3)</PresentationFormat>
  <Paragraphs>94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de operación para Residencias profesionales</dc:title>
  <dc:creator>luid</dc:creator>
  <cp:lastModifiedBy>Rodolfo Cruz Ibarra</cp:lastModifiedBy>
  <cp:revision>178</cp:revision>
  <dcterms:created xsi:type="dcterms:W3CDTF">2002-01-26T11:17:21Z</dcterms:created>
  <dcterms:modified xsi:type="dcterms:W3CDTF">2026-10-12T01:18:05Z</dcterms:modified>
</cp:coreProperties>
</file>